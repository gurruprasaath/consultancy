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70" r:id="rId13"/>
    <p:sldId id="268" r:id="rId14"/>
    <p:sldId id="269" r:id="rId15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7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82953" y="402463"/>
            <a:ext cx="7629271" cy="982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48866" y="1633474"/>
            <a:ext cx="6953884" cy="4081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console.groq.com/docs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 descr="klogo copy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3145" y="981328"/>
              <a:ext cx="1374266" cy="1066800"/>
            </a:xfrm>
            <a:prstGeom prst="rect">
              <a:avLst/>
            </a:prstGeom>
          </p:spPr>
        </p:pic>
        <p:pic>
          <p:nvPicPr>
            <p:cNvPr id="5" name="object 5" descr="kec2blackborder png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000132" cy="984117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8055" marR="5080" indent="91313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DEPARTMENT</a:t>
            </a:r>
            <a:r>
              <a:rPr sz="2400" spc="-20" dirty="0"/>
              <a:t> </a:t>
            </a:r>
            <a:r>
              <a:rPr sz="2400" dirty="0"/>
              <a:t>OF</a:t>
            </a:r>
            <a:r>
              <a:rPr sz="2400" spc="-60" dirty="0"/>
              <a:t> </a:t>
            </a:r>
            <a:r>
              <a:rPr sz="2400" spc="-10" dirty="0"/>
              <a:t>ARTIFICIAL </a:t>
            </a:r>
            <a:r>
              <a:rPr sz="2400" dirty="0"/>
              <a:t>INTELLIGENCE</a:t>
            </a:r>
            <a:r>
              <a:rPr sz="2400" spc="-50" dirty="0"/>
              <a:t> </a:t>
            </a:r>
            <a:r>
              <a:rPr sz="2400" dirty="0"/>
              <a:t>AND</a:t>
            </a:r>
            <a:r>
              <a:rPr sz="2400" spc="-65" dirty="0"/>
              <a:t> </a:t>
            </a:r>
            <a:r>
              <a:rPr sz="2400" dirty="0"/>
              <a:t>MACHINE</a:t>
            </a:r>
            <a:r>
              <a:rPr sz="2400" spc="-65" dirty="0"/>
              <a:t> </a:t>
            </a:r>
            <a:r>
              <a:rPr sz="2400" spc="-10" dirty="0"/>
              <a:t>LEARNING</a:t>
            </a:r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3838194" y="5712256"/>
            <a:ext cx="1853564" cy="89960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lang="en-GB" sz="1600" spc="-10" dirty="0" err="1">
                <a:latin typeface="Times New Roman"/>
                <a:cs typeface="Times New Roman"/>
              </a:rPr>
              <a:t>Gurruprasaath</a:t>
            </a:r>
            <a:r>
              <a:rPr lang="en-GB" sz="1600" spc="-10" dirty="0">
                <a:latin typeface="Times New Roman"/>
                <a:cs typeface="Times New Roman"/>
              </a:rPr>
              <a:t> M K</a:t>
            </a:r>
            <a:endParaRPr sz="1600" dirty="0">
              <a:latin typeface="Times New Roman"/>
              <a:cs typeface="Times New Roman"/>
            </a:endParaRPr>
          </a:p>
          <a:p>
            <a:pPr marL="12700" marR="5080">
              <a:lnSpc>
                <a:spcPts val="2330"/>
              </a:lnSpc>
              <a:spcBef>
                <a:spcPts val="85"/>
              </a:spcBef>
            </a:pPr>
            <a:r>
              <a:rPr lang="en-GB" sz="1600" spc="-10" dirty="0">
                <a:latin typeface="Times New Roman"/>
                <a:cs typeface="Times New Roman"/>
              </a:rPr>
              <a:t>Hemanth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lang="en-GB" sz="1600" spc="-10" dirty="0">
                <a:latin typeface="Times New Roman"/>
                <a:cs typeface="Times New Roman"/>
              </a:rPr>
              <a:t>V</a:t>
            </a:r>
          </a:p>
          <a:p>
            <a:pPr marL="12700" marR="5080">
              <a:lnSpc>
                <a:spcPts val="2330"/>
              </a:lnSpc>
              <a:spcBef>
                <a:spcPts val="85"/>
              </a:spcBef>
            </a:pPr>
            <a:r>
              <a:rPr lang="en-GB" sz="1600" spc="-10" dirty="0" err="1">
                <a:latin typeface="Times New Roman"/>
                <a:cs typeface="Times New Roman"/>
              </a:rPr>
              <a:t>Hemvarshini</a:t>
            </a:r>
            <a:r>
              <a:rPr lang="en-GB" sz="1600" spc="-10" dirty="0">
                <a:latin typeface="Times New Roman"/>
                <a:cs typeface="Times New Roman"/>
              </a:rPr>
              <a:t> S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63385" y="5699548"/>
            <a:ext cx="963930" cy="90995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600" spc="-10" dirty="0">
                <a:latin typeface="Times New Roman"/>
                <a:cs typeface="Times New Roman"/>
              </a:rPr>
              <a:t>23ADR0</a:t>
            </a:r>
            <a:r>
              <a:rPr lang="en-GB" sz="1600" spc="-10" dirty="0">
                <a:latin typeface="Times New Roman"/>
                <a:cs typeface="Times New Roman"/>
              </a:rPr>
              <a:t>52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600" spc="-10" dirty="0">
                <a:latin typeface="Times New Roman"/>
                <a:cs typeface="Times New Roman"/>
              </a:rPr>
              <a:t>23ADR0</a:t>
            </a:r>
            <a:r>
              <a:rPr lang="en-GB" sz="1600" spc="-10" dirty="0">
                <a:latin typeface="Times New Roman"/>
                <a:cs typeface="Times New Roman"/>
              </a:rPr>
              <a:t>61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600" spc="-10" dirty="0">
                <a:latin typeface="Times New Roman"/>
                <a:cs typeface="Times New Roman"/>
              </a:rPr>
              <a:t>22ADR0</a:t>
            </a:r>
            <a:r>
              <a:rPr lang="en-GB" sz="1600" spc="-10" dirty="0">
                <a:latin typeface="Times New Roman"/>
                <a:cs typeface="Times New Roman"/>
              </a:rPr>
              <a:t>62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22024" y="1286758"/>
            <a:ext cx="6207363" cy="445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49885" algn="ctr">
              <a:lnSpc>
                <a:spcPct val="100000"/>
              </a:lnSpc>
              <a:spcBef>
                <a:spcPts val="100"/>
              </a:spcBef>
            </a:pPr>
            <a:r>
              <a:rPr lang="en-GB" sz="2400" b="1" spc="-80" dirty="0">
                <a:solidFill>
                  <a:srgbClr val="FF0000"/>
                </a:solidFill>
                <a:latin typeface="Arial"/>
                <a:cs typeface="Arial"/>
              </a:rPr>
              <a:t>Food7-AI Powered Restaurant</a:t>
            </a:r>
            <a:r>
              <a:rPr sz="2400" b="1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Management</a:t>
            </a:r>
            <a:r>
              <a:rPr sz="2400" b="1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System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SDG(8) - Decent Work and Economic Growth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SDG(9) - Industry, Innovation, and Infrastructure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>
                <a:latin typeface="Times New Roman"/>
                <a:cs typeface="Times New Roman"/>
              </a:rPr>
              <a:t>SDG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(12)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lang="en-GB" spc="-45" dirty="0">
                <a:latin typeface="Times New Roman"/>
                <a:cs typeface="Times New Roman"/>
              </a:rPr>
              <a:t>-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Responsible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Consumption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Production</a:t>
            </a:r>
            <a:endParaRPr dirty="0">
              <a:latin typeface="Times New Roman"/>
              <a:cs typeface="Times New Roman"/>
            </a:endParaRPr>
          </a:p>
          <a:p>
            <a:pPr marR="2002155" algn="r">
              <a:lnSpc>
                <a:spcPct val="100000"/>
              </a:lnSpc>
              <a:spcBef>
                <a:spcPts val="1855"/>
              </a:spcBef>
            </a:pPr>
            <a:r>
              <a:rPr sz="1800" dirty="0">
                <a:latin typeface="Times New Roman"/>
                <a:cs typeface="Times New Roman"/>
              </a:rPr>
              <a:t>PROJECT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REVIEW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-</a:t>
            </a:r>
            <a:r>
              <a:rPr sz="1800" spc="-50" dirty="0">
                <a:latin typeface="Times New Roman"/>
                <a:cs typeface="Times New Roman"/>
              </a:rPr>
              <a:t> 2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R="2016760" algn="r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PROJECT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GUIDE</a:t>
            </a:r>
            <a:endParaRPr sz="1800" dirty="0">
              <a:latin typeface="Times New Roman"/>
              <a:cs typeface="Times New Roman"/>
            </a:endParaRPr>
          </a:p>
          <a:p>
            <a:pPr marL="1138555" marR="1410970" indent="15240">
              <a:lnSpc>
                <a:spcPct val="120600"/>
              </a:lnSpc>
              <a:spcBef>
                <a:spcPts val="10"/>
              </a:spcBef>
            </a:pPr>
            <a:r>
              <a:rPr sz="1600" dirty="0">
                <a:latin typeface="Times New Roman"/>
                <a:cs typeface="Times New Roman"/>
              </a:rPr>
              <a:t>Mentor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Name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:-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lang="en-IN" sz="1600" dirty="0" err="1">
                <a:latin typeface="Times New Roman"/>
              </a:rPr>
              <a:t>Ms.M.Mohana</a:t>
            </a:r>
            <a:r>
              <a:rPr lang="en-IN" sz="1600" dirty="0">
                <a:latin typeface="Times New Roman"/>
              </a:rPr>
              <a:t> Arasi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endParaRPr lang="en-GB" sz="1600" spc="-10" dirty="0">
              <a:latin typeface="Times New Roman"/>
              <a:cs typeface="Times New Roman"/>
            </a:endParaRPr>
          </a:p>
          <a:p>
            <a:pPr marL="1138555" marR="1410970" indent="15240">
              <a:lnSpc>
                <a:spcPct val="120600"/>
              </a:lnSpc>
              <a:spcBef>
                <a:spcPts val="10"/>
              </a:spcBef>
            </a:pPr>
            <a:r>
              <a:rPr sz="1600" spc="-10" dirty="0">
                <a:latin typeface="Times New Roman"/>
                <a:cs typeface="Times New Roman"/>
              </a:rPr>
              <a:t>Designation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:-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Assistant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Professor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9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R="1988820" algn="r">
              <a:lnSpc>
                <a:spcPct val="100000"/>
              </a:lnSpc>
            </a:pPr>
            <a:r>
              <a:rPr sz="1600" b="1" spc="-10" dirty="0">
                <a:latin typeface="Times New Roman"/>
                <a:cs typeface="Times New Roman"/>
              </a:rPr>
              <a:t>PROJECT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MEMBER</a:t>
            </a:r>
            <a:endParaRPr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8046" rIns="0" bIns="0" rtlCol="0">
            <a:spAutoFit/>
          </a:bodyPr>
          <a:lstStyle/>
          <a:p>
            <a:pPr marL="184023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3433" y="1799970"/>
            <a:ext cx="7237730" cy="3627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Food7 is a full-stack AI-powered system designed to automate and intelligently optimize every aspect of restaurant operations.</a:t>
            </a:r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 Smart billing with menu-driven cart and GST automation</a:t>
            </a:r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AI call transcription and sentiment analysis using </a:t>
            </a:r>
            <a:r>
              <a:rPr lang="en-GB" dirty="0" err="1"/>
              <a:t>Groq</a:t>
            </a:r>
            <a:r>
              <a:rPr lang="en-GB" dirty="0"/>
              <a:t> Whisper</a:t>
            </a:r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AI marketing content generation and multi-channel distribution</a:t>
            </a:r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Real-time inventory tracking with predictive alerts</a:t>
            </a:r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/>
              <a:t>Analytics dashboard with revenue and sales insights</a:t>
            </a: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634" y="2057400"/>
            <a:ext cx="7768590" cy="448904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GB" dirty="0"/>
              <a:t>Restaurant owners face multiple operational challenges that lead to revenue loss and high operational overhead.</a:t>
            </a:r>
          </a:p>
          <a:p>
            <a:endParaRPr lang="en-GB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b="1" dirty="0"/>
              <a:t>Manual billing errors</a:t>
            </a:r>
            <a:r>
              <a:rPr lang="en-GB" dirty="0"/>
              <a:t> — handwritten orders and manual calculations lead to mistakes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b="1" dirty="0"/>
              <a:t>No customer intelligence</a:t>
            </a:r>
            <a:r>
              <a:rPr lang="en-GB" dirty="0"/>
              <a:t> — phone calls are unrecorded, </a:t>
            </a:r>
            <a:r>
              <a:rPr lang="en-GB" dirty="0" err="1"/>
              <a:t>unanalyzed</a:t>
            </a:r>
            <a:r>
              <a:rPr lang="en-GB" dirty="0"/>
              <a:t>, and forgotten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b="1" dirty="0"/>
              <a:t>Reactive inventory management</a:t>
            </a:r>
            <a:r>
              <a:rPr lang="en-GB" dirty="0"/>
              <a:t> — stock-outs and wastage discovered too late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b="1" dirty="0"/>
              <a:t>Ineffective marketing</a:t>
            </a:r>
            <a:r>
              <a:rPr lang="en-GB" dirty="0"/>
              <a:t> — generic, untargeted promotions with no personalization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b="1" dirty="0"/>
              <a:t>Fragmented systems</a:t>
            </a:r>
            <a:r>
              <a:rPr lang="en-GB" dirty="0"/>
              <a:t> — separate tools for POS, inventory, and marketing with no unified view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b="1" dirty="0"/>
              <a:t>No data-driven decisions</a:t>
            </a:r>
            <a:r>
              <a:rPr lang="en-GB" dirty="0"/>
              <a:t> — owners rely on intuition rather than real sales analytics</a:t>
            </a:r>
          </a:p>
          <a:p>
            <a:pPr marL="332740" marR="5080" indent="-320675">
              <a:lnSpc>
                <a:spcPct val="100000"/>
              </a:lnSpc>
              <a:spcBef>
                <a:spcPts val="105"/>
              </a:spcBef>
              <a:buSzPct val="70000"/>
              <a:buFont typeface="Wingdings"/>
              <a:buChar char=""/>
              <a:tabLst>
                <a:tab pos="332740" algn="l"/>
              </a:tabLst>
            </a:pP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8046" rIns="0" bIns="0" rtlCol="0">
            <a:spAutoFit/>
          </a:bodyPr>
          <a:lstStyle/>
          <a:p>
            <a:pPr marL="1155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155" dirty="0"/>
              <a:t> </a:t>
            </a:r>
            <a:r>
              <a:rPr spc="-10" dirty="0"/>
              <a:t>STATEMENT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95400" y="361696"/>
            <a:ext cx="7629271" cy="982090"/>
          </a:xfrm>
          <a:prstGeom prst="rect">
            <a:avLst/>
          </a:prstGeom>
        </p:spPr>
        <p:txBody>
          <a:bodyPr vert="horz" wrap="square" lIns="0" tIns="402539" rIns="0" bIns="0" rtlCol="0">
            <a:spAutoFit/>
          </a:bodyPr>
          <a:lstStyle/>
          <a:p>
            <a:pPr marL="88011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spc="-40" dirty="0"/>
              <a:t> </a:t>
            </a:r>
            <a:r>
              <a:rPr dirty="0"/>
              <a:t>GOAL</a:t>
            </a:r>
            <a:r>
              <a:rPr spc="-1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ITS</a:t>
            </a:r>
            <a:r>
              <a:rPr spc="-30" dirty="0"/>
              <a:t> </a:t>
            </a:r>
            <a:r>
              <a:rPr spc="-25" dirty="0"/>
              <a:t>SDG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5591" y="1705482"/>
            <a:ext cx="7429500" cy="393248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Project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Goal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600" dirty="0">
              <a:latin typeface="Times New Roman"/>
              <a:cs typeface="Times New Roman"/>
            </a:endParaRPr>
          </a:p>
          <a:p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Alignment</a:t>
            </a:r>
          </a:p>
          <a:p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SDG 8: Reduces manual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labor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burden</a:t>
            </a: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SDG 9: Applies cutting-edge AI</a:t>
            </a: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SDG 12: Predictive inventory reduces food wastage</a:t>
            </a: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.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1D0DBD3A-ACE3-23D4-5DA4-41041C4F4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2133600"/>
            <a:ext cx="69342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a unified platform that replaces manual workflows with intelligent automation for sustainable growth.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3390" rIns="0" bIns="0" rtlCol="0">
            <a:spAutoFit/>
          </a:bodyPr>
          <a:lstStyle/>
          <a:p>
            <a:pPr marL="1367155">
              <a:lnSpc>
                <a:spcPct val="100000"/>
              </a:lnSpc>
              <a:spcBef>
                <a:spcPts val="100"/>
              </a:spcBef>
            </a:pPr>
            <a:r>
              <a:rPr dirty="0"/>
              <a:t>EXISTING</a:t>
            </a:r>
            <a:r>
              <a:rPr spc="-45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400" y="1905000"/>
            <a:ext cx="7629271" cy="91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restaurant management systems suffer from high dependency on manual effort and lack of AI integration.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4459E667-436F-AAC0-E442-A7CBD62BD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2953" y="2590800"/>
            <a:ext cx="6205545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Billing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Manual/basic POS, no menu integration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Call Management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No recording or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Inventory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Manual spreadsheets, reactive restocking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Generic WhatsApp broadcasts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No real-time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Integration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None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19062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PROPOSED</a:t>
            </a:r>
            <a:r>
              <a:rPr spc="-114" dirty="0"/>
              <a:t> </a:t>
            </a:r>
            <a:r>
              <a:rPr spc="-20" dirty="0"/>
              <a:t>IDEA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50EB63C-7EAB-D32C-603A-220E253CA32D}"/>
              </a:ext>
            </a:extLst>
          </p:cNvPr>
          <p:cNvSpPr txBox="1"/>
          <p:nvPr/>
        </p:nvSpPr>
        <p:spPr>
          <a:xfrm>
            <a:off x="1143000" y="1443841"/>
            <a:ext cx="75438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Food7 integrates six core modules to provide a seamless, zero-ongoing-AI-cost restaurant management experience.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Modules</a:t>
            </a: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Billing: Menu-driven cart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Inventory: Real-time stock tracking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Dashboard: Revenue trends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Intelligence Modules</a:t>
            </a: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Call Analysis: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Whisper transcription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Marketing Generator: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3.3 70B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Multi-Channel Distribution: Gmail, WhatsApp, Instagram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219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spc="-40" dirty="0"/>
              <a:t> </a:t>
            </a:r>
            <a:r>
              <a:rPr spc="-10" dirty="0"/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22652" y="1943226"/>
            <a:ext cx="4978147" cy="4347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Software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Stack:</a:t>
            </a:r>
            <a:endParaRPr lang="en-GB" sz="2000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GB" sz="2000" spc="-10" dirty="0">
              <a:latin typeface="Times New Roman"/>
              <a:cs typeface="Times New Roman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Frontend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React 18, Vite, Tailwind CSS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Backend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Node.js, Express.js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Database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MongoDB Atlas (cloud)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AI — LLM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3.3 70B)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AI — Speech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Whisper Large V3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Authentication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JWT (JSON Web Tokens)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6768" rIns="0" bIns="0" rtlCol="0">
            <a:spAutoFit/>
          </a:bodyPr>
          <a:lstStyle/>
          <a:p>
            <a:pPr marL="59436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DESIGN</a:t>
            </a:r>
            <a:r>
              <a:rPr sz="3200" spc="-35" dirty="0"/>
              <a:t> </a:t>
            </a:r>
            <a:r>
              <a:rPr sz="3200" dirty="0"/>
              <a:t>OR</a:t>
            </a:r>
            <a:r>
              <a:rPr sz="3200" spc="-40" dirty="0"/>
              <a:t> </a:t>
            </a:r>
            <a:r>
              <a:rPr sz="3200" dirty="0"/>
              <a:t>SYSTEM</a:t>
            </a:r>
            <a:r>
              <a:rPr sz="3200" spc="-15" dirty="0"/>
              <a:t> </a:t>
            </a:r>
            <a:r>
              <a:rPr sz="3200" spc="-20" dirty="0"/>
              <a:t>FLOW</a:t>
            </a:r>
            <a:endParaRPr sz="3200"/>
          </a:p>
        </p:txBody>
      </p:sp>
      <p:pic>
        <p:nvPicPr>
          <p:cNvPr id="3" name="Picture 2" descr="b8d5f9a8-4a49-44e7-b1cf-03df9e4a2b7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56" y="1714488"/>
            <a:ext cx="5000660" cy="50006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71600" y="609600"/>
            <a:ext cx="7629271" cy="982090"/>
          </a:xfrm>
          <a:prstGeom prst="rect">
            <a:avLst/>
          </a:prstGeom>
        </p:spPr>
        <p:txBody>
          <a:bodyPr vert="horz" wrap="square" lIns="0" tIns="250444" rIns="0" bIns="0" rtlCol="0">
            <a:spAutoFit/>
          </a:bodyPr>
          <a:lstStyle/>
          <a:p>
            <a:pPr marL="462280">
              <a:lnSpc>
                <a:spcPct val="100000"/>
              </a:lnSpc>
              <a:spcBef>
                <a:spcPts val="100"/>
              </a:spcBef>
            </a:pPr>
            <a:r>
              <a:rPr dirty="0"/>
              <a:t>MODULES</a:t>
            </a:r>
            <a:r>
              <a:rPr spc="-90" dirty="0"/>
              <a:t> </a:t>
            </a:r>
            <a:r>
              <a:rPr dirty="0"/>
              <a:t>WITH</a:t>
            </a:r>
            <a:r>
              <a:rPr spc="-55" dirty="0"/>
              <a:t> </a:t>
            </a:r>
            <a:r>
              <a:rPr spc="-10" dirty="0"/>
              <a:t>DESCRIPTION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99E2AFD8-7082-A60B-06A6-18BB94A5B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981200"/>
            <a:ext cx="7210628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JWT-based login — Role-based access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Billing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Smart POS — GST (5%), Cart, History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Call Analysis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AI intelligence —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Whisper, Sentiment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Marketing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Campaign generator —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3.3 70B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Inventory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Stock management — Auto-deduction, Alerts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Business dashboard — Revenue trends, AI insights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661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IMPLEMENTATION</a:t>
            </a:r>
            <a:r>
              <a:rPr spc="-10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4098" name="AutoShape 2" descr="blob:https://web.whatsapp.com/2e36e141-6e5f-48c4-bce0-c3005d0ae33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 descr="WhatsApp Image 2026-02-19 at 7.34.14 AM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5786" y="1428736"/>
            <a:ext cx="4429156" cy="2537464"/>
          </a:xfrm>
          <a:prstGeom prst="rect">
            <a:avLst/>
          </a:prstGeom>
        </p:spPr>
      </p:pic>
      <p:pic>
        <p:nvPicPr>
          <p:cNvPr id="5" name="Picture 4" descr="WhatsApp Image 2026-02-19 at 7.32.43 AM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71934" y="4000504"/>
            <a:ext cx="4734866" cy="27525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0406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100"/>
              </a:spcBef>
            </a:pPr>
            <a:r>
              <a:rPr dirty="0"/>
              <a:t>INTERMEDIATE</a:t>
            </a:r>
            <a:r>
              <a:rPr spc="-75" dirty="0"/>
              <a:t> </a:t>
            </a:r>
            <a:r>
              <a:rPr dirty="0"/>
              <a:t>RESULT</a:t>
            </a:r>
            <a:r>
              <a:rPr spc="-65" dirty="0"/>
              <a:t> </a:t>
            </a:r>
            <a:r>
              <a:rPr spc="-10" dirty="0"/>
              <a:t>SCREENSHOTS</a:t>
            </a:r>
          </a:p>
        </p:txBody>
      </p:sp>
      <p:pic>
        <p:nvPicPr>
          <p:cNvPr id="3" name="Picture 2" descr="WhatsApp Image 2026-02-19 at 7.33.34 AM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4348" y="1142985"/>
            <a:ext cx="4572032" cy="2892560"/>
          </a:xfrm>
          <a:prstGeom prst="rect">
            <a:avLst/>
          </a:prstGeom>
        </p:spPr>
      </p:pic>
      <p:pic>
        <p:nvPicPr>
          <p:cNvPr id="4" name="Picture 3" descr="WhatsApp Image 2026-02-19 at 7.32.43 AM (2)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57620" y="4143380"/>
            <a:ext cx="5072066" cy="22919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2953" y="402463"/>
            <a:ext cx="7629271" cy="461665"/>
          </a:xfrm>
        </p:spPr>
        <p:txBody>
          <a:bodyPr/>
          <a:lstStyle/>
          <a:p>
            <a:r>
              <a:rPr lang="en-US" dirty="0" smtClean="0"/>
              <a:t>INTERMEDIATE</a:t>
            </a:r>
            <a:r>
              <a:rPr lang="en-US" spc="-75" dirty="0" smtClean="0"/>
              <a:t> </a:t>
            </a:r>
            <a:r>
              <a:rPr lang="en-US" dirty="0" smtClean="0"/>
              <a:t>RESULT</a:t>
            </a:r>
            <a:r>
              <a:rPr lang="en-US" spc="-65" dirty="0" smtClean="0"/>
              <a:t> </a:t>
            </a:r>
            <a:r>
              <a:rPr lang="en-US" spc="-10" dirty="0" smtClean="0"/>
              <a:t>SCREENSHOTS</a:t>
            </a:r>
            <a:endParaRPr lang="en-US" dirty="0"/>
          </a:p>
        </p:txBody>
      </p:sp>
      <p:pic>
        <p:nvPicPr>
          <p:cNvPr id="5" name="Picture 4" descr="WhatsApp Image 2026-02-19 at 7.34.03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786" y="1428736"/>
            <a:ext cx="5429256" cy="2446558"/>
          </a:xfrm>
          <a:prstGeom prst="rect">
            <a:avLst/>
          </a:prstGeom>
        </p:spPr>
      </p:pic>
      <p:pic>
        <p:nvPicPr>
          <p:cNvPr id="6" name="Picture 5" descr="WhatsApp Image 2026-02-19 at 7.32.43 AM (1)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868" y="4071942"/>
            <a:ext cx="5357818" cy="24177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5490" rIns="0" bIns="0" rtlCol="0">
            <a:spAutoFit/>
          </a:bodyPr>
          <a:lstStyle/>
          <a:p>
            <a:pPr marL="21024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83D02E54-9716-AFBA-C114-1AA8DC57A7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1752600"/>
            <a:ext cx="776687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https://console.groq.com/docs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Meta Business Cloud API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WhatsApp &amp; Instagram integration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Nodemailer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&amp; MongoDB Atlas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Communication and data storage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 &amp; Express.js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Frontend and Backend frameworks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OpenAI Whisper (2022)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Radford et al. (Speech-to-Text Research)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 (2024)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Meta AI Research (Large Language Model)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448560" y="3202051"/>
            <a:ext cx="453580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0" dirty="0">
                <a:latin typeface="Times New Roman"/>
                <a:cs typeface="Times New Roman"/>
              </a:rPr>
              <a:t>THANK</a:t>
            </a:r>
            <a:r>
              <a:rPr sz="6000" b="0" spc="-215" dirty="0">
                <a:latin typeface="Times New Roman"/>
                <a:cs typeface="Times New Roman"/>
              </a:rPr>
              <a:t> </a:t>
            </a:r>
            <a:r>
              <a:rPr sz="6000" b="0" spc="-25" dirty="0">
                <a:latin typeface="Times New Roman"/>
                <a:cs typeface="Times New Roman"/>
              </a:rPr>
              <a:t>YOU</a:t>
            </a:r>
            <a:endParaRPr sz="6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531</TotalTime>
  <Words>577</Words>
  <Application>Microsoft Office PowerPoint</Application>
  <PresentationFormat>On-screen Show (4:3)</PresentationFormat>
  <Paragraphs>130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DEPARTMENT OF ARTIFICIAL INTELLIGENCE AND MACHINE LEARNING</vt:lpstr>
      <vt:lpstr>INTRODUCTION</vt:lpstr>
      <vt:lpstr>PROBLEM STATEMENT</vt:lpstr>
      <vt:lpstr>PROJECT GOAL AND ITS SDG</vt:lpstr>
      <vt:lpstr>EXISTING SYSTEM</vt:lpstr>
      <vt:lpstr>PROPOSED IDEA</vt:lpstr>
      <vt:lpstr>SOFTWARE REQUIREMENTS</vt:lpstr>
      <vt:lpstr>DESIGN OR SYSTEM FLOW</vt:lpstr>
      <vt:lpstr>MODULES WITH DESCRIPTION</vt:lpstr>
      <vt:lpstr>IMPLEMENTATION SCREENSHOTS</vt:lpstr>
      <vt:lpstr>INTERMEDIATE RESULT SCREENSHOTS</vt:lpstr>
      <vt:lpstr>INTERMEDIATE RESULT SCREENSHOTS</vt:lpstr>
      <vt:lpstr>REFERENCES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ARTIFICIAL INTELLIGENCE AND MACHINE LEARNING</dc:title>
  <dc:creator>saliniyan</dc:creator>
  <cp:lastModifiedBy>Gurru Sudharsan</cp:lastModifiedBy>
  <cp:revision>4</cp:revision>
  <dcterms:created xsi:type="dcterms:W3CDTF">2026-02-18T17:03:21Z</dcterms:created>
  <dcterms:modified xsi:type="dcterms:W3CDTF">2026-02-19T04:38:39Z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2026-02-18T00:00:00Z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2026-02-18T00:00:00Z</vt:filetime>
  </property>
  <property fmtid="{D5CDD505-2E9C-101B-9397-08002B2CF9AE}" pid="5" name="Producer">
    <vt:lpwstr>Microsoft® PowerPoint® 2021</vt:lpwstr>
  </property>
</Properties>
</file>